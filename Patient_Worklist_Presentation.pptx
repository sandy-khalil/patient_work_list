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PATIENT WORKLIST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86C1"/>
                </a:solidFill>
                <a:latin typeface="Calibri"/>
              </a:defRPr>
            </a:pPr>
            <a:r>
              <a:t>Hospital Imaging Study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Full-Stack Web Application  |  ASP.NET Core  |  Entity Framework  | 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Sandy Khalil  |  Millensys Final Project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1.  Project Overview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2.  Technology Stack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3.  Data Model &amp; Architecture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4.  API Endpoints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5.  Frontend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6.  Database Design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7.  Repository Pattern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8.  Security &amp; Validation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9.  Demo Walkthrough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▸  10. Summary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Calibri"/>
              </a:defRPr>
            </a:pPr>
            <a:r>
              <a:t>A hospital-style web application for managing patients, doctors, and imaging studies.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👥</a:t>
            </a:r>
          </a:p>
          <a:p>
            <a:pPr algn="ctr">
              <a:defRPr sz="1800" b="1">
                <a:solidFill>
                  <a:srgbClr val="1B4F72"/>
                </a:solidFill>
              </a:defRPr>
            </a:pPr>
            <a:r>
              <a:t>Patients</a:t>
            </a:r>
          </a:p>
          <a:p>
            <a:pPr algn="ctr">
              <a:defRPr sz="1200">
                <a:solidFill>
                  <a:srgbClr val="7F8C8D"/>
                </a:solidFill>
              </a:defRPr>
            </a:pPr>
            <a:r>
              <a:t>Demographics, MRN, status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377440"/>
            <a:ext cx="25603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🩺</a:t>
            </a:r>
          </a:p>
          <a:p>
            <a:pPr algn="ctr">
              <a:defRPr sz="1800" b="1">
                <a:solidFill>
                  <a:srgbClr val="1B4F72"/>
                </a:solidFill>
              </a:defRPr>
            </a:pPr>
            <a:r>
              <a:t>Doctors</a:t>
            </a:r>
          </a:p>
          <a:p>
            <a:pPr algn="ctr">
              <a:defRPr sz="1200">
                <a:solidFill>
                  <a:srgbClr val="7F8C8D"/>
                </a:solidFill>
              </a:defRPr>
            </a:pPr>
            <a:r>
              <a:t>Specialty management, linked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25603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📋</a:t>
            </a:r>
          </a:p>
          <a:p>
            <a:pPr algn="ctr">
              <a:defRPr sz="1800" b="1">
                <a:solidFill>
                  <a:srgbClr val="1B4F72"/>
                </a:solidFill>
              </a:defRPr>
            </a:pPr>
            <a:r>
              <a:t>Studies</a:t>
            </a:r>
          </a:p>
          <a:p>
            <a:pPr algn="ctr">
              <a:defRPr sz="1200">
                <a:solidFill>
                  <a:srgbClr val="7F8C8D"/>
                </a:solidFill>
              </a:defRPr>
            </a:pPr>
            <a:r>
              <a:t>CT, MRI, X-Ray scheduling &amp;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377440"/>
            <a:ext cx="25603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📊</a:t>
            </a:r>
          </a:p>
          <a:p>
            <a:pPr algn="ctr">
              <a:defRPr sz="1800" b="1">
                <a:solidFill>
                  <a:srgbClr val="1B4F72"/>
                </a:solidFill>
              </a:defRPr>
            </a:pPr>
            <a:r>
              <a:t>Worklist</a:t>
            </a:r>
          </a:p>
          <a:p>
            <a:pPr algn="ctr">
              <a:defRPr sz="1200">
                <a:solidFill>
                  <a:srgbClr val="7F8C8D"/>
                </a:solidFill>
              </a:defRPr>
            </a:pPr>
            <a:r>
              <a:t>Real-time overview of all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The application simulates a radiology department worklist — the screen used to track</a:t>
            </a:r>
            <a:br/>
            <a:r>
              <a:t>which imaging studies are scheduled, in progress, or completed for each patient.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ASP.NET Core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C# (.NET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7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Minimal API hosting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5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Swagger / Swashbuckle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65176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Entity Framework Core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SQLite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38327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Repository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02335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LINQ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65176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HTML5 / CSS3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Bootstrap 5.3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8327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jQuery 3.7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5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DataTables 1.13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371600"/>
            <a:ext cx="265176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0312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RESTful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743200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DTO Pattern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38327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Dependency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023359"/>
            <a:ext cx="2651760" cy="5029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C3E50"/>
                </a:solidFill>
              </a:defRPr>
            </a:pPr>
            <a:r>
              <a:t>Layered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46888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2468880" cy="21945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PersonId (PK)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FirstName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LastName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DateOfBirth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Gender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Phone?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Email?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74519"/>
            <a:ext cx="2468880" cy="21945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PatientId (PK)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PersonId (FK)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MRN (unique)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24688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2468880" cy="21945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DoctorId (PK)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PersonId (FK)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Specialty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371600"/>
            <a:ext cx="24688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874519"/>
            <a:ext cx="2468880" cy="219456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StudyId (PK)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PatientId (FK)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DoctorId (FK)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Modality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StudyDate</a:t>
            </a:r>
          </a:p>
          <a:p>
            <a:pPr>
              <a:spcAft>
                <a:spcPts val="300"/>
              </a:spcAft>
              <a:defRPr sz="1200">
                <a:solidFill>
                  <a:srgbClr val="2C3E50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4F72"/>
                </a:solidFill>
                <a:latin typeface="Calibri"/>
              </a:defRPr>
            </a:pPr>
            <a:r>
              <a:t>Relationships:  Person 1:1 Patient  |  Person 1:1 Doctor  |  Patient 1:N Studies  |  Doctor 1:N Studies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💡 Design Decision: Why a shared Person table?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t>Patients and Doctors share the same demographic fields (name, DOB, gender, contact). A shared Person table eliminates duplication and allows a person to be both a patient and a doctor.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18320" cy="11430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86C1"/>
                </a:solidFill>
              </a:defRPr>
            </a:pPr>
            <a:r>
              <a:t>Frontend (wwwroot)</a:t>
            </a:r>
          </a:p>
          <a:p>
            <a:pPr>
              <a:defRPr sz="1200">
                <a:solidFill>
                  <a:srgbClr val="2C3E50"/>
                </a:solidFill>
                <a:latin typeface="Consolas"/>
              </a:defRPr>
            </a:pPr>
            <a:r>
              <a:t>index.html  •  app.js  •  style.css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Bootstrap 5, jQuery, DataTables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06039"/>
            <a:ext cx="9418320" cy="1143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Controllers</a:t>
            </a:r>
          </a:p>
          <a:p>
            <a:pPr>
              <a:defRPr sz="1200">
                <a:solidFill>
                  <a:srgbClr val="2C3E50"/>
                </a:solidFill>
                <a:latin typeface="Consolas"/>
              </a:defRPr>
            </a:pPr>
            <a:r>
              <a:t>PatientsController  •  DoctorsController  •  StudiesController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HTTP requests, validation, DTO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931920"/>
            <a:ext cx="9418320" cy="11430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Repositories</a:t>
            </a:r>
          </a:p>
          <a:p>
            <a:pPr>
              <a:defRPr sz="1200">
                <a:solidFill>
                  <a:srgbClr val="2C3E50"/>
                </a:solidFill>
                <a:latin typeface="Consolas"/>
              </a:defRPr>
            </a:pPr>
            <a:r>
              <a:t>GenericRepository&lt;T&gt;  •  PatientRepository  •  DoctorRepository  •  StudyRepository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Data access, eager loading,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257800"/>
            <a:ext cx="9418320" cy="114300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EF Core / SQLite</a:t>
            </a:r>
          </a:p>
          <a:p>
            <a:pPr>
              <a:defRPr sz="1200">
                <a:solidFill>
                  <a:srgbClr val="2C3E50"/>
                </a:solidFill>
                <a:latin typeface="Consolas"/>
              </a:defRPr>
            </a:pPr>
            <a:r>
              <a:t>ApplicationDbContext  •  Entities  •  DbSeeder</a:t>
            </a:r>
          </a:p>
          <a:p>
            <a:pPr>
              <a:defRPr sz="1100">
                <a:solidFill>
                  <a:srgbClr val="7F8C8D"/>
                </a:solidFill>
              </a:defRPr>
            </a:pPr>
            <a:r>
              <a:t>ORM, change tracking, migrations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9144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37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List all patients with 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30552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176272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76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1762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Create a new patient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69464"/>
            <a:ext cx="1069848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615184"/>
            <a:ext cx="9144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/api/patients/{id}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1518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Get patient by 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08376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054096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0540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/api/patients/{id}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5409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Update patient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47288"/>
            <a:ext cx="1069848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493008"/>
            <a:ext cx="91440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493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/api/patients/{id}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4930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Delete patient + studies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3931920"/>
            <a:ext cx="9144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/api/doctors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931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List all doctors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25112"/>
            <a:ext cx="1069848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4370832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370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/api/doctors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3708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Create a new doctor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64024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4809744"/>
            <a:ext cx="91440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809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/api/doctors/{id}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80974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Delete (only if no studies)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02936"/>
            <a:ext cx="10698480" cy="411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5248656"/>
            <a:ext cx="9144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248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/api/studies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524865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List studies (filterable)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641848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" y="5687568"/>
            <a:ext cx="914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5687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/api/studies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56875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Create study (validates FK)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REPOSITORY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alibri"/>
              </a:defRPr>
            </a:pPr>
            <a:r>
              <a:t>Generic Repository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public interface IRepository&lt;T&gt; where T : class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Task&lt;IEnumerable&lt;T&gt;&gt; GetAllAsync();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Task&lt;T?&gt; GetByIdAsync(int id);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Task&lt;T&gt; AddAsync(T entity);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 UpdateAsync(T entity);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 DeleteAsync(T entity);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    Task&lt;bool&gt; ExistsAsync(int id);</a:t>
            </a:r>
          </a:p>
          <a:p>
            <a:pPr>
              <a:spcAft>
                <a:spcPts val="100"/>
              </a:spcAft>
              <a:defRPr sz="13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Specific Repository (Patient)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public class PatientRepository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: GenericRepository&lt;Patient&gt;,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IPatientRepository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public async Task&lt;IEnumerable&lt;Patient&gt;&gt;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GetAllWithDetailsAsync()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return await _dbSet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.Include(p =&gt; p.Person)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.Include(p =&gt; p.Studies)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.AsNoTracking()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.ToListAsync();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2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Key Benefits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</a:defRPr>
            </a:pPr>
            <a:r>
              <a:t>▸  Separation of concerns — controllers never touch DbContext directly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</a:defRPr>
            </a:pPr>
            <a:r>
              <a:t>▸  Testability — repositories can be mocked for unit tests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</a:defRPr>
            </a:pPr>
            <a:r>
              <a:t>▸  Reusability — generic CRUD shared across all entities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</a:defRPr>
            </a:pPr>
            <a:r>
              <a:t>▸  Specific repositories add eager loading (.Include) and custom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FRONTEND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Studies Tab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74720" cy="20116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View all imaging studies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Filter by patient/doctor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Modality, date, status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Create / Edit / Delete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4747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Patients Tab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74519"/>
            <a:ext cx="3474720" cy="20116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Patient demographics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MRN &amp; status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Age calculator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Study count per patient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71600"/>
            <a:ext cx="347472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Doctors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74519"/>
            <a:ext cx="3474720" cy="201168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Doctor demographics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Specialty management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Linked study count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▸  Delete protection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alibri"/>
              </a:defRPr>
            </a:pPr>
            <a:r>
              <a:t>Frontend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Bootstrap 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Responsive grid, modals, toasts, badges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jQuery 3.7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DOM manipulation, event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DataTables 1.13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Sortable/searchable/paginated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Fetch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RESTful calls to backend, 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Full-stack hospital worklist application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RESTful API with 15 endpoints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SQLite database with seeded demo data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Repository pattern for clean architecture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Responsive Bootstrap frontend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✓  Swagger UI for API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JWT authentication &amp; role-based access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PostgreSQL / SQL Server migration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EF Core Migrations (instead of EnsureCreated)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Unit &amp; integration tests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Docker containerization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ECF0F1"/>
                </a:solidFill>
                <a:latin typeface="Calibri"/>
              </a:defRPr>
            </a:pPr>
            <a:r>
              <a:t>→  Image upload for study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Thank You  |  Sandy Khalil  |  Millensys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